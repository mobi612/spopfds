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036219" y="1153716"/>
            <a:ext cx="1071563" cy="1071563"/>
          </a:xfrm>
          <a:prstGeom prst="ellipse">
            <a:avLst/>
          </a:prstGeom>
          <a:solidFill>
            <a:srgbClr val="E0E6ED"/>
          </a:solidFill>
          <a:ln/>
        </p:spPr>
      </p:sp>
      <p:sp>
        <p:nvSpPr>
          <p:cNvPr id="4" name="Shape 1"/>
          <p:cNvSpPr/>
          <p:nvPr/>
        </p:nvSpPr>
        <p:spPr>
          <a:xfrm>
            <a:off x="4250531" y="1225153"/>
            <a:ext cx="928688" cy="928688"/>
          </a:xfrm>
          <a:prstGeom prst="ellipse">
            <a:avLst/>
          </a:prstGeom>
          <a:solidFill>
            <a:srgbClr val="1A1F2C"/>
          </a:solidFill>
          <a:ln/>
        </p:spPr>
      </p:sp>
      <p:sp>
        <p:nvSpPr>
          <p:cNvPr id="5" name="Text 2"/>
          <p:cNvSpPr/>
          <p:nvPr/>
        </p:nvSpPr>
        <p:spPr>
          <a:xfrm>
            <a:off x="2352973" y="2511028"/>
            <a:ext cx="4438055" cy="766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4350" b="1" spc="-1" kern="0" dirty="0">
                <a:solidFill>
                  <a:srgbClr val="4A90E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LUA</a:t>
            </a:r>
            <a:endParaRPr lang="en-US" sz="4350" dirty="0"/>
          </a:p>
        </p:txBody>
      </p:sp>
      <p:sp>
        <p:nvSpPr>
          <p:cNvPr id="6" name="Text 3"/>
          <p:cNvSpPr/>
          <p:nvPr/>
        </p:nvSpPr>
        <p:spPr>
          <a:xfrm>
            <a:off x="2352973" y="3348633"/>
            <a:ext cx="443805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spc="3" kern="0" dirty="0">
                <a:solidFill>
                  <a:srgbClr val="4A90E2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LINGUAGEM DE PROGRAMAÇÃO BRASILEIRA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2352973" y="3995142"/>
            <a:ext cx="4438055" cy="351830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E0E6ED">
                    <a:alpha val="8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Sofia Albuquerque de Abreu &amp; Moisés Bisin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spc="2" kern="0" dirty="0">
                <a:solidFill>
                  <a:srgbClr val="4A90E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ORIGEM E CONCEITO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239441"/>
            <a:ext cx="3786188" cy="3214688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4A90E2">
                <a:alpha val="2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7250" y="1525191"/>
            <a:ext cx="3214688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HISTÓRIA E DESENVOLVIMENTO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57250" y="1921669"/>
            <a:ext cx="3214688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Criada em </a:t>
            </a:r>
            <a:r>
              <a:rPr lang="en-US" sz="950" dirty="0">
                <a:solidFill>
                  <a:srgbClr val="E0E6E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1993</a:t>
            </a:r>
            <a:r>
              <a:rPr lang="en-US" sz="9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 na PUC-Rio por Roberto </a:t>
            </a:r>
            <a:r>
              <a:rPr lang="en-US" sz="9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Ierusalimschy, Luiz Henrique de Figueiredo e </a:t>
            </a:r>
            <a:r>
              <a:rPr lang="en-US" sz="9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Waldemar Celes.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7250" y="2681697"/>
            <a:ext cx="3214688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Desenvolvida para atender demandas de </a:t>
            </a:r>
            <a:r>
              <a:rPr lang="en-US" sz="9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engenharia da </a:t>
            </a:r>
            <a:r>
              <a:rPr lang="en-US" sz="950" dirty="0">
                <a:solidFill>
                  <a:srgbClr val="E0E6E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Petrobras</a:t>
            </a:r>
            <a:r>
              <a:rPr lang="en-US" sz="9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, focando em </a:t>
            </a:r>
            <a:r>
              <a:rPr lang="en-US" sz="9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portabilidade e facilidade de integração com </a:t>
            </a:r>
            <a:r>
              <a:rPr lang="en-US" sz="9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C/C++.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57250" y="3441725"/>
            <a:ext cx="321468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O nome </a:t>
            </a:r>
            <a:r>
              <a:rPr lang="en-US" sz="950" dirty="0">
                <a:solidFill>
                  <a:srgbClr val="E0E6E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Lua</a:t>
            </a:r>
            <a:r>
              <a:rPr lang="en-US" sz="9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 reflete sua função original como uma </a:t>
            </a:r>
            <a:r>
              <a:rPr lang="en-US" sz="9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linguagem de extensão para sistemas maiores.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786313" y="1239441"/>
            <a:ext cx="3786188" cy="3214688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4A90E2">
                <a:alpha val="2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72063" y="1525191"/>
            <a:ext cx="3214688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CARACTERÍSTICAS TÉCNICAS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286375" y="1921669"/>
            <a:ext cx="300037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4A90E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Adoção Mundial:</a:t>
            </a:r>
            <a:r>
              <a:rPr lang="en-US" sz="950" dirty="0">
                <a:solidFill>
                  <a:srgbClr val="E0E6E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Amplamente utilizada em </a:t>
            </a:r>
            <a:r>
              <a:rPr lang="en-US" sz="950" dirty="0">
                <a:solidFill>
                  <a:srgbClr val="E0E6E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sistemas de grande escala e software </a:t>
            </a:r>
            <a:r>
              <a:rPr lang="en-US" sz="950" dirty="0">
                <a:solidFill>
                  <a:srgbClr val="E0E6E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comercial.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286375" y="2640313"/>
            <a:ext cx="30003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4A90E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Licença MIT:</a:t>
            </a:r>
            <a:r>
              <a:rPr lang="en-US" sz="950" dirty="0">
                <a:solidFill>
                  <a:srgbClr val="E0E6E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Código aberto, permitindo uso </a:t>
            </a:r>
            <a:r>
              <a:rPr lang="en-US" sz="950" dirty="0">
                <a:solidFill>
                  <a:srgbClr val="E0E6E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irrestrito em projetos comerciais e privados.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286375" y="3178941"/>
            <a:ext cx="30003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4A90E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Simplicidade:</a:t>
            </a:r>
            <a:r>
              <a:rPr lang="en-US" sz="950" dirty="0">
                <a:solidFill>
                  <a:srgbClr val="E0E6E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Foca em um conjunto reduzido de </a:t>
            </a:r>
            <a:r>
              <a:rPr lang="en-US" sz="950" dirty="0">
                <a:solidFill>
                  <a:srgbClr val="E0E6E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mecanismos poderosos e extensíveis.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286375" y="3717568"/>
            <a:ext cx="30003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4A90E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Evolução:</a:t>
            </a:r>
            <a:r>
              <a:rPr lang="en-US" sz="950" dirty="0">
                <a:solidFill>
                  <a:srgbClr val="E0E6E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Linguagem madura, com atualizações </a:t>
            </a:r>
            <a:r>
              <a:rPr lang="en-US" sz="950" dirty="0">
                <a:solidFill>
                  <a:srgbClr val="E0E6E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frequentes focadas em performance.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spc="2" kern="0" dirty="0">
                <a:solidFill>
                  <a:srgbClr val="4A90E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HELLO WORLD E SINTAXE BÁSICA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168003"/>
            <a:ext cx="3857625" cy="1428750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4A90E2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1500" y="1168003"/>
            <a:ext cx="3857625" cy="1428750"/>
          </a:xfrm>
          <a:prstGeom prst="rect">
            <a:avLst/>
          </a:prstGeom>
          <a:noFill/>
          <a:ln/>
        </p:spPr>
        <p:txBody>
          <a:bodyPr wrap="square" lIns="255143" tIns="255143" rIns="255143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E0E6ED">
                    <a:alpha val="40000"/>
                  </a:srgbClr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-- Exemplo básico</a:t>
            </a:r>
            <a:r>
              <a:rPr lang="en-US" sz="95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E0E6ED"/>
                </a:solidFill>
                <a:latin typeface="Fira Code Medium" pitchFamily="34" charset="0"/>
                <a:ea typeface="Fira Code Medium" pitchFamily="34" charset="-122"/>
                <a:cs typeface="Fira Code Medium" pitchFamily="34" charset="-120"/>
              </a:rPr>
              <a:t>print</a:t>
            </a:r>
            <a:r>
              <a:rPr lang="en-US" sz="95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</a:t>
            </a:r>
            <a:r>
              <a:rPr lang="en-US" sz="950" dirty="0">
                <a:solidFill>
                  <a:srgbClr val="F5A62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"Olá, Mundo!"</a:t>
            </a:r>
            <a:r>
              <a:rPr lang="en-US" sz="95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71500" y="2811066"/>
            <a:ext cx="3857625" cy="12858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2811066"/>
            <a:ext cx="28575" cy="1285875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Shape 5"/>
          <p:cNvSpPr/>
          <p:nvPr/>
        </p:nvSpPr>
        <p:spPr>
          <a:xfrm>
            <a:off x="714375" y="1082278"/>
            <a:ext cx="589359" cy="137127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9" name="Text 6"/>
          <p:cNvSpPr/>
          <p:nvPr/>
        </p:nvSpPr>
        <p:spPr>
          <a:xfrm>
            <a:off x="714375" y="1082278"/>
            <a:ext cx="589359" cy="137127"/>
          </a:xfrm>
          <a:prstGeom prst="rect">
            <a:avLst/>
          </a:prstGeom>
          <a:noFill/>
          <a:ln/>
        </p:spPr>
        <p:txBody>
          <a:bodyPr wrap="none" lIns="85090" tIns="17018" rIns="85090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b="1" spc="1" kern="0" dirty="0">
                <a:solidFill>
                  <a:srgbClr val="0B0E14"/>
                </a:solidFill>
                <a:latin typeface="Fira Code Medium" pitchFamily="34" charset="0"/>
                <a:ea typeface="Fira Code Medium" pitchFamily="34" charset="-122"/>
                <a:cs typeface="Fira Code Medium" pitchFamily="34" charset="-120"/>
              </a:rPr>
              <a:t>LUA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714375" y="1082278"/>
            <a:ext cx="589359" cy="137127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1" name="Text 8"/>
          <p:cNvSpPr/>
          <p:nvPr/>
        </p:nvSpPr>
        <p:spPr>
          <a:xfrm>
            <a:off x="714375" y="1082278"/>
            <a:ext cx="589359" cy="137127"/>
          </a:xfrm>
          <a:prstGeom prst="rect">
            <a:avLst/>
          </a:prstGeom>
          <a:noFill/>
          <a:ln/>
        </p:spPr>
        <p:txBody>
          <a:bodyPr wrap="none" lIns="85090" tIns="17018" rIns="85090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b="1" spc="1" kern="0" dirty="0">
                <a:solidFill>
                  <a:srgbClr val="0B0E14"/>
                </a:solidFill>
                <a:latin typeface="Fira Code Medium" pitchFamily="34" charset="0"/>
                <a:ea typeface="Fira Code Medium" pitchFamily="34" charset="-122"/>
                <a:cs typeface="Fira Code Medium" pitchFamily="34" charset="-120"/>
              </a:rPr>
              <a:t>SCRIPT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750094" y="2953941"/>
            <a:ext cx="350043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ESTRUTURA DA LINGUAGEM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14400" y="3243263"/>
            <a:ext cx="2287786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Ausência de terminadores obrigatórios (;)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914400" y="3475434"/>
            <a:ext cx="1584127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Sintaxe simplificada e legível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914400" y="3707606"/>
            <a:ext cx="1807369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Fácil aprendizado para iniciantes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14875" y="1168003"/>
            <a:ext cx="3857625" cy="2928938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4A90E2">
                <a:alpha val="4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14875" y="1168003"/>
            <a:ext cx="3857625" cy="2928938"/>
          </a:xfrm>
          <a:prstGeom prst="rect">
            <a:avLst/>
          </a:prstGeom>
          <a:noFill/>
          <a:ln/>
        </p:spPr>
        <p:txBody>
          <a:bodyPr wrap="square" lIns="255143" tIns="255143" rIns="255143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E0E6ED">
                    <a:alpha val="40000"/>
                  </a:srgbClr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-- Uso de variáveis locais</a:t>
            </a:r>
            <a:r>
              <a:rPr lang="en-US" sz="95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4A90E2"/>
                </a:solidFill>
                <a:latin typeface="Fira Code Medium" pitchFamily="34" charset="0"/>
                <a:ea typeface="Fira Code Medium" pitchFamily="34" charset="-122"/>
                <a:cs typeface="Fira Code Medium" pitchFamily="34" charset="-120"/>
              </a:rPr>
              <a:t>local</a:t>
            </a:r>
            <a:r>
              <a:rPr lang="en-US" sz="95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nome = </a:t>
            </a:r>
            <a:r>
              <a:rPr lang="en-US" sz="950" dirty="0">
                <a:solidFill>
                  <a:srgbClr val="F5A62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"Lua"</a:t>
            </a:r>
            <a:r>
              <a:rPr lang="en-US" sz="95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4A90E2"/>
                </a:solidFill>
                <a:latin typeface="Fira Code Medium" pitchFamily="34" charset="0"/>
                <a:ea typeface="Fira Code Medium" pitchFamily="34" charset="-122"/>
                <a:cs typeface="Fira Code Medium" pitchFamily="34" charset="-120"/>
              </a:rPr>
              <a:t>local</a:t>
            </a:r>
            <a:r>
              <a:rPr lang="en-US" sz="95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ver = </a:t>
            </a:r>
            <a:r>
              <a:rPr lang="en-US" sz="950" dirty="0">
                <a:solidFill>
                  <a:srgbClr val="F5A62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"5.4"</a:t>
            </a:r>
            <a:r>
              <a:rPr lang="en-US" sz="95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950" dirty="0">
                <a:solidFill>
                  <a:srgbClr val="4A90E2"/>
                </a:solidFill>
                <a:latin typeface="Fira Code Medium" pitchFamily="34" charset="0"/>
                <a:ea typeface="Fira Code Medium" pitchFamily="34" charset="-122"/>
                <a:cs typeface="Fira Code Medium" pitchFamily="34" charset="-120"/>
              </a:rPr>
              <a:t>local function</a:t>
            </a:r>
            <a:r>
              <a:rPr lang="en-US" sz="95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950" dirty="0">
                <a:solidFill>
                  <a:srgbClr val="E0E6ED"/>
                </a:solidFill>
                <a:latin typeface="Fira Code Medium" pitchFamily="34" charset="0"/>
                <a:ea typeface="Fira Code Medium" pitchFamily="34" charset="-122"/>
                <a:cs typeface="Fira Code Medium" pitchFamily="34" charset="-120"/>
              </a:rPr>
              <a:t>saudacao</a:t>
            </a:r>
            <a:r>
              <a:rPr lang="en-US" sz="95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(n, v)</a:t>
            </a:r>
            <a:r>
              <a:rPr lang="en-US" sz="95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E0E6ED">
                    <a:alpha val="40000"/>
                  </a:srgbClr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-- Operador de concatenação: ..</a:t>
            </a:r>
            <a:r>
              <a:rPr lang="en-US" sz="95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E0E6ED"/>
                </a:solidFill>
                <a:latin typeface="Fira Code Medium" pitchFamily="34" charset="0"/>
                <a:ea typeface="Fira Code Medium" pitchFamily="34" charset="-122"/>
                <a:cs typeface="Fira Code Medium" pitchFamily="34" charset="-120"/>
              </a:rPr>
              <a:t>print</a:t>
            </a:r>
            <a:r>
              <a:rPr lang="en-US" sz="95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</a:t>
            </a:r>
            <a:r>
              <a:rPr lang="en-US" sz="950" dirty="0">
                <a:solidFill>
                  <a:srgbClr val="F5A62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"Linguagem: "</a:t>
            </a:r>
            <a:r>
              <a:rPr lang="en-US" sz="95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.. n .. </a:t>
            </a:r>
            <a:r>
              <a:rPr lang="en-US" sz="950" dirty="0">
                <a:solidFill>
                  <a:srgbClr val="F5A62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 Versão: "</a:t>
            </a:r>
            <a:r>
              <a:rPr lang="en-US" sz="95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.. </a:t>
            </a:r>
            <a:r>
              <a:rPr lang="en-US" sz="95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v)</a:t>
            </a:r>
            <a:r>
              <a:rPr lang="en-US" sz="95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4A90E2"/>
                </a:solidFill>
                <a:latin typeface="Fira Code Medium" pitchFamily="34" charset="0"/>
                <a:ea typeface="Fira Code Medium" pitchFamily="34" charset="-122"/>
                <a:cs typeface="Fira Code Medium" pitchFamily="34" charset="-120"/>
              </a:rPr>
              <a:t>end</a:t>
            </a:r>
            <a:r>
              <a:rPr lang="en-US" sz="95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950" dirty="0">
                <a:solidFill>
                  <a:srgbClr val="E0E6ED"/>
                </a:solidFill>
                <a:latin typeface="Fira Code Medium" pitchFamily="34" charset="0"/>
                <a:ea typeface="Fira Code Medium" pitchFamily="34" charset="-122"/>
                <a:cs typeface="Fira Code Medium" pitchFamily="34" charset="-120"/>
              </a:rPr>
              <a:t>saudacao</a:t>
            </a:r>
            <a:r>
              <a:rPr lang="en-US" sz="95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(nome, ver)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857750" y="1082278"/>
            <a:ext cx="589359" cy="137127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9" name="Text 16"/>
          <p:cNvSpPr/>
          <p:nvPr/>
        </p:nvSpPr>
        <p:spPr>
          <a:xfrm>
            <a:off x="4857750" y="1082278"/>
            <a:ext cx="589359" cy="137127"/>
          </a:xfrm>
          <a:prstGeom prst="rect">
            <a:avLst/>
          </a:prstGeom>
          <a:noFill/>
          <a:ln/>
        </p:spPr>
        <p:txBody>
          <a:bodyPr wrap="none" lIns="85090" tIns="17018" rIns="85090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b="1" spc="1" kern="0" dirty="0">
                <a:solidFill>
                  <a:srgbClr val="0B0E14"/>
                </a:solidFill>
                <a:latin typeface="Fira Code Medium" pitchFamily="34" charset="0"/>
                <a:ea typeface="Fira Code Medium" pitchFamily="34" charset="-122"/>
                <a:cs typeface="Fira Code Medium" pitchFamily="34" charset="-120"/>
              </a:rPr>
              <a:t>LUA</a:t>
            </a:r>
            <a:endParaRPr lang="en-US" sz="600" dirty="0"/>
          </a:p>
        </p:txBody>
      </p:sp>
      <p:sp>
        <p:nvSpPr>
          <p:cNvPr id="20" name="Shape 17"/>
          <p:cNvSpPr/>
          <p:nvPr/>
        </p:nvSpPr>
        <p:spPr>
          <a:xfrm>
            <a:off x="4857750" y="1082278"/>
            <a:ext cx="589359" cy="137127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21" name="Text 18"/>
          <p:cNvSpPr/>
          <p:nvPr/>
        </p:nvSpPr>
        <p:spPr>
          <a:xfrm>
            <a:off x="4857750" y="1082278"/>
            <a:ext cx="589359" cy="137127"/>
          </a:xfrm>
          <a:prstGeom prst="rect">
            <a:avLst/>
          </a:prstGeom>
          <a:noFill/>
          <a:ln/>
        </p:spPr>
        <p:txBody>
          <a:bodyPr wrap="none" lIns="85090" tIns="17018" rIns="85090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b="1" spc="1" kern="0" dirty="0">
                <a:solidFill>
                  <a:srgbClr val="0B0E14"/>
                </a:solidFill>
                <a:latin typeface="Fira Code Medium" pitchFamily="34" charset="0"/>
                <a:ea typeface="Fira Code Medium" pitchFamily="34" charset="-122"/>
                <a:cs typeface="Fira Code Medium" pitchFamily="34" charset="-120"/>
              </a:rPr>
              <a:t>SCRIPT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spc="2" kern="0" dirty="0">
                <a:solidFill>
                  <a:srgbClr val="4A90E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INTERPRETADA OU COMPILADA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168003"/>
            <a:ext cx="4968478" cy="1893094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4A90E2">
                <a:alpha val="3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71500" y="1168003"/>
            <a:ext cx="1638263" cy="310753"/>
          </a:xfrm>
          <a:prstGeom prst="rect">
            <a:avLst/>
          </a:prstGeom>
          <a:solidFill>
            <a:srgbClr val="4A90E2">
              <a:alpha val="1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471613"/>
            <a:ext cx="1638263" cy="7144"/>
          </a:xfrm>
          <a:prstGeom prst="rect">
            <a:avLst/>
          </a:prstGeom>
          <a:solidFill>
            <a:srgbClr val="E4EEFB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1168003"/>
            <a:ext cx="1638263" cy="310753"/>
          </a:xfrm>
          <a:prstGeom prst="rect">
            <a:avLst/>
          </a:prstGeom>
          <a:noFill/>
          <a:ln/>
        </p:spPr>
        <p:txBody>
          <a:bodyPr wrap="square" lIns="212598" tIns="170053" rIns="212598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F5A62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ATRIBUTO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209763" y="1168003"/>
            <a:ext cx="3330215" cy="310753"/>
          </a:xfrm>
          <a:prstGeom prst="rect">
            <a:avLst/>
          </a:prstGeom>
          <a:solidFill>
            <a:srgbClr val="4A90E2">
              <a:alpha val="1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2209763" y="1471613"/>
            <a:ext cx="3330215" cy="7144"/>
          </a:xfrm>
          <a:prstGeom prst="rect">
            <a:avLst/>
          </a:prstGeom>
          <a:solidFill>
            <a:srgbClr val="E4EEFB"/>
          </a:solidFill>
          <a:ln/>
        </p:spPr>
      </p:sp>
      <p:sp>
        <p:nvSpPr>
          <p:cNvPr id="10" name="Text 7"/>
          <p:cNvSpPr/>
          <p:nvPr/>
        </p:nvSpPr>
        <p:spPr>
          <a:xfrm>
            <a:off x="2209763" y="1168003"/>
            <a:ext cx="3330215" cy="310753"/>
          </a:xfrm>
          <a:prstGeom prst="rect">
            <a:avLst/>
          </a:prstGeom>
          <a:noFill/>
          <a:ln/>
        </p:spPr>
        <p:txBody>
          <a:bodyPr wrap="square" lIns="212598" tIns="170053" rIns="212598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F5A62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MECANISMO DE EXECUÇÃO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71500" y="1475184"/>
            <a:ext cx="1638263" cy="310753"/>
          </a:xfrm>
          <a:prstGeom prst="rect">
            <a:avLst/>
          </a:prstGeom>
          <a:noFill/>
          <a:ln/>
        </p:spPr>
        <p:txBody>
          <a:bodyPr wrap="square" lIns="212598" tIns="170053" rIns="212598" bIns="0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Tipo de Execução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388357" y="1618059"/>
            <a:ext cx="78402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A90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Interpretada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172383" y="1618059"/>
            <a:ext cx="1712714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via bytecode intermediário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71500" y="1785938"/>
            <a:ext cx="1638263" cy="314325"/>
          </a:xfrm>
          <a:prstGeom prst="rect">
            <a:avLst/>
          </a:prstGeom>
          <a:noFill/>
          <a:ln/>
        </p:spPr>
        <p:txBody>
          <a:bodyPr wrap="square" lIns="212598" tIns="170053" rIns="212598" bIns="0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Máquina Virtual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388357" y="1932384"/>
            <a:ext cx="78759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Baseada em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175955" y="1932384"/>
            <a:ext cx="83581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A90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registradores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011774" y="1932384"/>
            <a:ext cx="101977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para otimização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71500" y="2100263"/>
            <a:ext cx="1638263" cy="314325"/>
          </a:xfrm>
          <a:prstGeom prst="rect">
            <a:avLst/>
          </a:prstGeom>
          <a:noFill/>
          <a:ln/>
        </p:spPr>
        <p:txBody>
          <a:bodyPr wrap="square" lIns="212598" tIns="170053" rIns="212598" bIns="0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Tipagem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2388357" y="2246709"/>
            <a:ext cx="103584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A90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Dinâmica e Forte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71500" y="2414588"/>
            <a:ext cx="1638263" cy="314325"/>
          </a:xfrm>
          <a:prstGeom prst="rect">
            <a:avLst/>
          </a:prstGeom>
          <a:noFill/>
          <a:ln/>
        </p:spPr>
        <p:txBody>
          <a:bodyPr wrap="square" lIns="212598" tIns="170053" rIns="212598" bIns="0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Gerenciamento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2209763" y="2414588"/>
            <a:ext cx="3330215" cy="314325"/>
          </a:xfrm>
          <a:prstGeom prst="rect">
            <a:avLst/>
          </a:prstGeom>
          <a:noFill/>
          <a:ln/>
        </p:spPr>
        <p:txBody>
          <a:bodyPr wrap="square" lIns="212598" tIns="170053" rIns="212598" bIns="0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Gerenciamento de memória automático (GC)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71500" y="2728913"/>
            <a:ext cx="1638263" cy="314325"/>
          </a:xfrm>
          <a:prstGeom prst="rect">
            <a:avLst/>
          </a:prstGeom>
          <a:noFill/>
          <a:ln/>
        </p:spPr>
        <p:txBody>
          <a:bodyPr wrap="square" lIns="212598" tIns="170053" rIns="212598" bIns="0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Implementação JIT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2388357" y="2875359"/>
            <a:ext cx="64472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Suporte a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3033080" y="2875359"/>
            <a:ext cx="40719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A90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LuaJIT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3440274" y="2875359"/>
            <a:ext cx="1421606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para alta performance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897166" y="1168003"/>
            <a:ext cx="2675334" cy="2857500"/>
          </a:xfrm>
          <a:prstGeom prst="rect">
            <a:avLst/>
          </a:prstGeom>
          <a:solidFill>
            <a:srgbClr val="4A90E2">
              <a:alpha val="5000"/>
            </a:srgbClr>
          </a:solidFill>
          <a:ln w="9144">
            <a:solidFill>
              <a:srgbClr val="4A90E2">
                <a:alpha val="4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47197" y="1418034"/>
            <a:ext cx="2175272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PERFORMANCE E VM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311503" y="1778794"/>
            <a:ext cx="2010966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90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Bytecode:</a:t>
            </a:r>
            <a:r>
              <a:rPr lang="en-US" sz="9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 O código-fonte é </a:t>
            </a:r>
            <a:r>
              <a:rPr lang="en-US" sz="9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compilado em uma representação </a:t>
            </a:r>
            <a:r>
              <a:rPr lang="en-US" sz="9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binária antes da execução.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311503" y="2503884"/>
            <a:ext cx="2010966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90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Eficiência:</a:t>
            </a:r>
            <a:r>
              <a:rPr lang="en-US" sz="9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 A VM baseada em </a:t>
            </a:r>
            <a:r>
              <a:rPr lang="en-US" sz="9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registradores reduz a sobrecarga </a:t>
            </a:r>
            <a:r>
              <a:rPr lang="en-US" sz="9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de instruções.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311503" y="3228975"/>
            <a:ext cx="2010966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90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Escalabilidade:</a:t>
            </a:r>
            <a:r>
              <a:rPr lang="en-US" sz="9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 Projetada para </a:t>
            </a:r>
            <a:r>
              <a:rPr lang="en-US" sz="9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execução rápida em sistemas de </a:t>
            </a:r>
            <a:r>
              <a:rPr lang="en-US" sz="9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diversos tamanhos.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spc="2" kern="0" dirty="0">
                <a:solidFill>
                  <a:srgbClr val="4A90E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BOAS PRÁTICAS DE PROGRAMAÇÃO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168003"/>
            <a:ext cx="2524116" cy="3429000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4A90E2">
                <a:alpha val="3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0094" y="1382316"/>
            <a:ext cx="2157413" cy="260747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1. ESCOPO LOCAL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50094" y="1785938"/>
            <a:ext cx="2157413" cy="628650"/>
          </a:xfrm>
          <a:prstGeom prst="rect">
            <a:avLst/>
          </a:prstGeom>
          <a:solidFill>
            <a:srgbClr val="FF6464">
              <a:alpha val="5000"/>
            </a:srgbClr>
          </a:solidFill>
          <a:ln w="9144">
            <a:solidFill>
              <a:srgbClr val="FF6464">
                <a:alpha val="2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464594" y="1714500"/>
            <a:ext cx="371475" cy="123230"/>
          </a:xfrm>
          <a:prstGeom prst="rect">
            <a:avLst/>
          </a:prstGeom>
          <a:solidFill>
            <a:srgbClr val="FF6464"/>
          </a:solidFill>
          <a:ln/>
        </p:spPr>
      </p:sp>
      <p:sp>
        <p:nvSpPr>
          <p:cNvPr id="8" name="Text 5"/>
          <p:cNvSpPr/>
          <p:nvPr/>
        </p:nvSpPr>
        <p:spPr>
          <a:xfrm>
            <a:off x="2464594" y="1714500"/>
            <a:ext cx="371475" cy="123230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0B0E14"/>
                </a:solidFill>
                <a:latin typeface="Fira Code Medium" pitchFamily="34" charset="0"/>
                <a:ea typeface="Fira Code Medium" pitchFamily="34" charset="-122"/>
                <a:cs typeface="Fira Code Medium" pitchFamily="34" charset="-120"/>
              </a:rPr>
              <a:t>GLOBAL</a:t>
            </a:r>
            <a:endParaRPr lang="en-US" sz="500" dirty="0"/>
          </a:p>
        </p:txBody>
      </p:sp>
      <p:sp>
        <p:nvSpPr>
          <p:cNvPr id="9" name="Text 6"/>
          <p:cNvSpPr/>
          <p:nvPr/>
        </p:nvSpPr>
        <p:spPr>
          <a:xfrm>
            <a:off x="857250" y="1893094"/>
            <a:ext cx="1943100" cy="507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FF646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contador = 0</a:t>
            </a:r>
            <a:r>
              <a:rPr lang="en-US" sz="650" dirty="0">
                <a:solidFill>
                  <a:srgbClr val="FF646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650" dirty="0">
                <a:solidFill>
                  <a:srgbClr val="FF646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function somar()</a:t>
            </a:r>
            <a:r>
              <a:rPr lang="en-US" sz="650" dirty="0">
                <a:solidFill>
                  <a:srgbClr val="FF646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650" dirty="0">
                <a:solidFill>
                  <a:srgbClr val="FF646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contador = contador + 1</a:t>
            </a:r>
            <a:r>
              <a:rPr lang="en-US" sz="650" dirty="0">
                <a:solidFill>
                  <a:srgbClr val="FF646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650" dirty="0">
                <a:solidFill>
                  <a:srgbClr val="FF646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end</a:t>
            </a:r>
            <a:endParaRPr lang="en-US" sz="650" dirty="0"/>
          </a:p>
        </p:txBody>
      </p:sp>
      <p:sp>
        <p:nvSpPr>
          <p:cNvPr id="10" name="Shape 7"/>
          <p:cNvSpPr/>
          <p:nvPr/>
        </p:nvSpPr>
        <p:spPr>
          <a:xfrm>
            <a:off x="750094" y="2543175"/>
            <a:ext cx="2157413" cy="628650"/>
          </a:xfrm>
          <a:prstGeom prst="rect">
            <a:avLst/>
          </a:prstGeom>
          <a:solidFill>
            <a:srgbClr val="64FF64">
              <a:alpha val="5000"/>
            </a:srgbClr>
          </a:solidFill>
          <a:ln w="9144">
            <a:solidFill>
              <a:srgbClr val="64FF64">
                <a:alpha val="2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07456" y="2471738"/>
            <a:ext cx="328613" cy="12323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2" name="Text 9"/>
          <p:cNvSpPr/>
          <p:nvPr/>
        </p:nvSpPr>
        <p:spPr>
          <a:xfrm>
            <a:off x="2507456" y="2471738"/>
            <a:ext cx="328613" cy="123230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0B0E14"/>
                </a:solidFill>
                <a:latin typeface="Fira Code Medium" pitchFamily="34" charset="0"/>
                <a:ea typeface="Fira Code Medium" pitchFamily="34" charset="-122"/>
                <a:cs typeface="Fira Code Medium" pitchFamily="34" charset="-120"/>
              </a:rPr>
              <a:t>LOCAL</a:t>
            </a:r>
            <a:endParaRPr lang="en-US" sz="500" dirty="0"/>
          </a:p>
        </p:txBody>
      </p:sp>
      <p:sp>
        <p:nvSpPr>
          <p:cNvPr id="13" name="Text 10"/>
          <p:cNvSpPr/>
          <p:nvPr/>
        </p:nvSpPr>
        <p:spPr>
          <a:xfrm>
            <a:off x="857250" y="2650331"/>
            <a:ext cx="1943100" cy="507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4A90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local contador = 0</a:t>
            </a:r>
            <a:r>
              <a:rPr lang="en-US" sz="650" dirty="0">
                <a:solidFill>
                  <a:srgbClr val="4A90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650" dirty="0">
                <a:solidFill>
                  <a:srgbClr val="4A90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local function somar()</a:t>
            </a:r>
            <a:r>
              <a:rPr lang="en-US" sz="650" dirty="0">
                <a:solidFill>
                  <a:srgbClr val="4A90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650" dirty="0">
                <a:solidFill>
                  <a:srgbClr val="4A90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contador = contador + 1</a:t>
            </a:r>
            <a:r>
              <a:rPr lang="en-US" sz="650" dirty="0">
                <a:solidFill>
                  <a:srgbClr val="4A90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650" dirty="0">
                <a:solidFill>
                  <a:srgbClr val="4A90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end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892969" y="3300413"/>
            <a:ext cx="2014538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Priorize variáveis locais para otimizar o acesso via registradores na máquina virtual.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300413" y="1168003"/>
            <a:ext cx="2528888" cy="3429000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4A90E2">
                <a:alpha val="3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83778" y="1382316"/>
            <a:ext cx="2162184" cy="260747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2. RETORNO ANTECIPADO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483778" y="1785938"/>
            <a:ext cx="2162184" cy="1009055"/>
          </a:xfrm>
          <a:prstGeom prst="rect">
            <a:avLst/>
          </a:prstGeom>
          <a:solidFill>
            <a:srgbClr val="FF6464">
              <a:alpha val="5000"/>
            </a:srgbClr>
          </a:solidFill>
          <a:ln w="9144">
            <a:solidFill>
              <a:srgbClr val="FF6464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117325" y="1714500"/>
            <a:ext cx="457200" cy="123230"/>
          </a:xfrm>
          <a:prstGeom prst="rect">
            <a:avLst/>
          </a:prstGeom>
          <a:solidFill>
            <a:srgbClr val="FF6464"/>
          </a:solidFill>
          <a:ln/>
        </p:spPr>
      </p:sp>
      <p:sp>
        <p:nvSpPr>
          <p:cNvPr id="19" name="Text 16"/>
          <p:cNvSpPr/>
          <p:nvPr/>
        </p:nvSpPr>
        <p:spPr>
          <a:xfrm>
            <a:off x="5117325" y="1714500"/>
            <a:ext cx="457200" cy="123230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0B0E14"/>
                </a:solidFill>
                <a:latin typeface="Fira Code Medium" pitchFamily="34" charset="0"/>
                <a:ea typeface="Fira Code Medium" pitchFamily="34" charset="-122"/>
                <a:cs typeface="Fira Code Medium" pitchFamily="34" charset="-120"/>
              </a:rPr>
              <a:t>ANINHADO</a:t>
            </a:r>
            <a:endParaRPr lang="en-US" sz="500" dirty="0"/>
          </a:p>
        </p:txBody>
      </p:sp>
      <p:sp>
        <p:nvSpPr>
          <p:cNvPr id="20" name="Text 17"/>
          <p:cNvSpPr/>
          <p:nvPr/>
        </p:nvSpPr>
        <p:spPr>
          <a:xfrm>
            <a:off x="3590934" y="1893094"/>
            <a:ext cx="1947872" cy="887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FF646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function validar(n)</a:t>
            </a:r>
            <a:r>
              <a:rPr lang="en-US" sz="650" dirty="0">
                <a:solidFill>
                  <a:srgbClr val="FF646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650" dirty="0">
                <a:solidFill>
                  <a:srgbClr val="FF646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if n then</a:t>
            </a:r>
            <a:r>
              <a:rPr lang="en-US" sz="650" dirty="0">
                <a:solidFill>
                  <a:srgbClr val="FF646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650" dirty="0">
                <a:solidFill>
                  <a:srgbClr val="FF646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if #n &gt; 3 then</a:t>
            </a:r>
            <a:r>
              <a:rPr lang="en-US" sz="650" dirty="0">
                <a:solidFill>
                  <a:srgbClr val="FF646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650" dirty="0">
                <a:solidFill>
                  <a:srgbClr val="FF646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return true</a:t>
            </a:r>
            <a:r>
              <a:rPr lang="en-US" sz="650" dirty="0">
                <a:solidFill>
                  <a:srgbClr val="FF646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650" dirty="0">
                <a:solidFill>
                  <a:srgbClr val="FF646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end</a:t>
            </a:r>
            <a:r>
              <a:rPr lang="en-US" sz="650" dirty="0">
                <a:solidFill>
                  <a:srgbClr val="FF646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650" dirty="0">
                <a:solidFill>
                  <a:srgbClr val="FF646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end</a:t>
            </a:r>
            <a:r>
              <a:rPr lang="en-US" sz="650" dirty="0">
                <a:solidFill>
                  <a:srgbClr val="FF646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650" dirty="0">
                <a:solidFill>
                  <a:srgbClr val="FF646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end</a:t>
            </a:r>
            <a:endParaRPr lang="en-US" sz="650" dirty="0"/>
          </a:p>
        </p:txBody>
      </p:sp>
      <p:sp>
        <p:nvSpPr>
          <p:cNvPr id="21" name="Shape 18"/>
          <p:cNvSpPr/>
          <p:nvPr/>
        </p:nvSpPr>
        <p:spPr>
          <a:xfrm>
            <a:off x="3483778" y="2923580"/>
            <a:ext cx="2162184" cy="755452"/>
          </a:xfrm>
          <a:prstGeom prst="rect">
            <a:avLst/>
          </a:prstGeom>
          <a:solidFill>
            <a:srgbClr val="64FF64">
              <a:alpha val="5000"/>
            </a:srgbClr>
          </a:solidFill>
          <a:ln w="9144">
            <a:solidFill>
              <a:srgbClr val="64FF64">
                <a:alpha val="2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245912" y="2852142"/>
            <a:ext cx="328613" cy="12323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23" name="Text 20"/>
          <p:cNvSpPr/>
          <p:nvPr/>
        </p:nvSpPr>
        <p:spPr>
          <a:xfrm>
            <a:off x="5245912" y="2852142"/>
            <a:ext cx="328613" cy="123230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0B0E14"/>
                </a:solidFill>
                <a:latin typeface="Fira Code Medium" pitchFamily="34" charset="0"/>
                <a:ea typeface="Fira Code Medium" pitchFamily="34" charset="-122"/>
                <a:cs typeface="Fira Code Medium" pitchFamily="34" charset="-120"/>
              </a:rPr>
              <a:t>LIMPO</a:t>
            </a:r>
            <a:endParaRPr lang="en-US" sz="500" dirty="0"/>
          </a:p>
        </p:txBody>
      </p:sp>
      <p:sp>
        <p:nvSpPr>
          <p:cNvPr id="24" name="Text 21"/>
          <p:cNvSpPr/>
          <p:nvPr/>
        </p:nvSpPr>
        <p:spPr>
          <a:xfrm>
            <a:off x="3590934" y="3030736"/>
            <a:ext cx="1947872" cy="63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4A90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function validar(n)</a:t>
            </a:r>
            <a:r>
              <a:rPr lang="en-US" sz="650" dirty="0">
                <a:solidFill>
                  <a:srgbClr val="4A90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650" dirty="0">
                <a:solidFill>
                  <a:srgbClr val="4A90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if not n then return end</a:t>
            </a:r>
            <a:r>
              <a:rPr lang="en-US" sz="650" dirty="0">
                <a:solidFill>
                  <a:srgbClr val="4A90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650" dirty="0">
                <a:solidFill>
                  <a:srgbClr val="4A90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if #n &lt;= 3 then return end</a:t>
            </a:r>
            <a:r>
              <a:rPr lang="en-US" sz="650" dirty="0">
                <a:solidFill>
                  <a:srgbClr val="4A90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650" dirty="0">
                <a:solidFill>
                  <a:srgbClr val="4A90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return true</a:t>
            </a:r>
            <a:r>
              <a:rPr lang="en-US" sz="650" dirty="0">
                <a:solidFill>
                  <a:srgbClr val="4A90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650" dirty="0">
                <a:solidFill>
                  <a:srgbClr val="4A90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end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3626653" y="3807619"/>
            <a:ext cx="2019309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Utilize retornos antecipados para reduzir o aninhamento e melhorar a legibilidade.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038869" y="1168003"/>
            <a:ext cx="2533659" cy="3429000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4A90E2">
                <a:alpha val="3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26950" y="1382316"/>
            <a:ext cx="2166928" cy="260747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3. FUNÇÕES LOCAIS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226950" y="1785938"/>
            <a:ext cx="2166928" cy="628650"/>
          </a:xfrm>
          <a:prstGeom prst="rect">
            <a:avLst/>
          </a:prstGeom>
          <a:solidFill>
            <a:srgbClr val="FF6464">
              <a:alpha val="5000"/>
            </a:srgbClr>
          </a:solidFill>
          <a:ln w="9144">
            <a:solidFill>
              <a:srgbClr val="FF6464">
                <a:alpha val="20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779516" y="1714500"/>
            <a:ext cx="542925" cy="123230"/>
          </a:xfrm>
          <a:prstGeom prst="rect">
            <a:avLst/>
          </a:prstGeom>
          <a:solidFill>
            <a:srgbClr val="FF6464"/>
          </a:solidFill>
          <a:ln/>
        </p:spPr>
      </p:sp>
      <p:sp>
        <p:nvSpPr>
          <p:cNvPr id="30" name="Text 27"/>
          <p:cNvSpPr/>
          <p:nvPr/>
        </p:nvSpPr>
        <p:spPr>
          <a:xfrm>
            <a:off x="7779516" y="1714500"/>
            <a:ext cx="542925" cy="123230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0B0E14"/>
                </a:solidFill>
                <a:latin typeface="Fira Code Medium" pitchFamily="34" charset="0"/>
                <a:ea typeface="Fira Code Medium" pitchFamily="34" charset="-122"/>
                <a:cs typeface="Fira Code Medium" pitchFamily="34" charset="-120"/>
              </a:rPr>
              <a:t>ATRIBUIÇÃO</a:t>
            </a:r>
            <a:endParaRPr lang="en-US" sz="500" dirty="0"/>
          </a:p>
        </p:txBody>
      </p:sp>
      <p:sp>
        <p:nvSpPr>
          <p:cNvPr id="31" name="Text 28"/>
          <p:cNvSpPr/>
          <p:nvPr/>
        </p:nvSpPr>
        <p:spPr>
          <a:xfrm>
            <a:off x="6334106" y="1893094"/>
            <a:ext cx="1952616" cy="507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FF646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local calcular = </a:t>
            </a:r>
            <a:r>
              <a:rPr lang="en-US" sz="650" dirty="0">
                <a:solidFill>
                  <a:srgbClr val="FF646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650" dirty="0">
                <a:solidFill>
                  <a:srgbClr val="FF646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function(x)</a:t>
            </a:r>
            <a:r>
              <a:rPr lang="en-US" sz="650" dirty="0">
                <a:solidFill>
                  <a:srgbClr val="FF646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650" dirty="0">
                <a:solidFill>
                  <a:srgbClr val="FF646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return x * 2</a:t>
            </a:r>
            <a:r>
              <a:rPr lang="en-US" sz="650" dirty="0">
                <a:solidFill>
                  <a:srgbClr val="FF646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650" dirty="0">
                <a:solidFill>
                  <a:srgbClr val="FF646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end</a:t>
            </a:r>
            <a:endParaRPr lang="en-US" sz="650" dirty="0"/>
          </a:p>
        </p:txBody>
      </p:sp>
      <p:sp>
        <p:nvSpPr>
          <p:cNvPr id="32" name="Shape 29"/>
          <p:cNvSpPr/>
          <p:nvPr/>
        </p:nvSpPr>
        <p:spPr>
          <a:xfrm>
            <a:off x="6226950" y="2543175"/>
            <a:ext cx="2166928" cy="628650"/>
          </a:xfrm>
          <a:prstGeom prst="rect">
            <a:avLst/>
          </a:prstGeom>
          <a:solidFill>
            <a:srgbClr val="64FF64">
              <a:alpha val="5000"/>
            </a:srgbClr>
          </a:solidFill>
          <a:ln w="9144">
            <a:solidFill>
              <a:srgbClr val="64FF64">
                <a:alpha val="20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736653" y="2471738"/>
            <a:ext cx="585788" cy="12323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4" name="Text 31"/>
          <p:cNvSpPr/>
          <p:nvPr/>
        </p:nvSpPr>
        <p:spPr>
          <a:xfrm>
            <a:off x="7736653" y="2471738"/>
            <a:ext cx="585788" cy="123230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0B0E14"/>
                </a:solidFill>
                <a:latin typeface="Fira Code Medium" pitchFamily="34" charset="0"/>
                <a:ea typeface="Fira Code Medium" pitchFamily="34" charset="-122"/>
                <a:cs typeface="Fira Code Medium" pitchFamily="34" charset="-120"/>
              </a:rPr>
              <a:t>DECLARATIVA</a:t>
            </a:r>
            <a:endParaRPr lang="en-US" sz="500" dirty="0"/>
          </a:p>
        </p:txBody>
      </p:sp>
      <p:sp>
        <p:nvSpPr>
          <p:cNvPr id="35" name="Text 32"/>
          <p:cNvSpPr/>
          <p:nvPr/>
        </p:nvSpPr>
        <p:spPr>
          <a:xfrm>
            <a:off x="6334106" y="2650331"/>
            <a:ext cx="1952616" cy="507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4A90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local function </a:t>
            </a:r>
            <a:r>
              <a:rPr lang="en-US" sz="650" dirty="0">
                <a:solidFill>
                  <a:srgbClr val="4A90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650" dirty="0">
                <a:solidFill>
                  <a:srgbClr val="4A90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calcular(x)</a:t>
            </a:r>
            <a:r>
              <a:rPr lang="en-US" sz="650" dirty="0">
                <a:solidFill>
                  <a:srgbClr val="4A90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650" dirty="0">
                <a:solidFill>
                  <a:srgbClr val="4A90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return x * 2</a:t>
            </a:r>
            <a:r>
              <a:rPr lang="en-US" sz="650" dirty="0">
                <a:solidFill>
                  <a:srgbClr val="4A90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650" dirty="0">
                <a:solidFill>
                  <a:srgbClr val="4A90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end</a:t>
            </a:r>
            <a:endParaRPr lang="en-US" sz="650" dirty="0"/>
          </a:p>
        </p:txBody>
      </p:sp>
      <p:sp>
        <p:nvSpPr>
          <p:cNvPr id="36" name="Text 33"/>
          <p:cNvSpPr/>
          <p:nvPr/>
        </p:nvSpPr>
        <p:spPr>
          <a:xfrm>
            <a:off x="6369825" y="3300413"/>
            <a:ext cx="2024053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A sintaxe declarativa para funções locais é preferível por clareza e suporte à recursão.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spc="2" kern="0" dirty="0">
                <a:solidFill>
                  <a:srgbClr val="4A90E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CONVENÇÕES DE NOMEAÇÃO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168003"/>
            <a:ext cx="4586288" cy="1744861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4A90E2">
                <a:alpha val="3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71500" y="1168003"/>
            <a:ext cx="1588982" cy="278606"/>
          </a:xfrm>
          <a:prstGeom prst="rect">
            <a:avLst/>
          </a:prstGeom>
          <a:solidFill>
            <a:srgbClr val="4A90E2">
              <a:alpha val="1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439466"/>
            <a:ext cx="1588982" cy="7144"/>
          </a:xfrm>
          <a:prstGeom prst="rect">
            <a:avLst/>
          </a:prstGeom>
          <a:solidFill>
            <a:srgbClr val="E4EEFB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1168003"/>
            <a:ext cx="1588982" cy="278606"/>
          </a:xfrm>
          <a:prstGeom prst="rect">
            <a:avLst/>
          </a:prstGeom>
          <a:noFill/>
          <a:ln/>
        </p:spPr>
        <p:txBody>
          <a:bodyPr wrap="square" lIns="170053" tIns="153035" rIns="170053" bIns="0" rtlCol="0" anchor="ctr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F5A62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ELEMENTO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2160482" y="1168003"/>
            <a:ext cx="1672196" cy="278606"/>
          </a:xfrm>
          <a:prstGeom prst="rect">
            <a:avLst/>
          </a:prstGeom>
          <a:solidFill>
            <a:srgbClr val="4A90E2">
              <a:alpha val="1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2160482" y="1439466"/>
            <a:ext cx="1672196" cy="7144"/>
          </a:xfrm>
          <a:prstGeom prst="rect">
            <a:avLst/>
          </a:prstGeom>
          <a:solidFill>
            <a:srgbClr val="E4EEFB"/>
          </a:solidFill>
          <a:ln/>
        </p:spPr>
      </p:sp>
      <p:sp>
        <p:nvSpPr>
          <p:cNvPr id="10" name="Text 7"/>
          <p:cNvSpPr/>
          <p:nvPr/>
        </p:nvSpPr>
        <p:spPr>
          <a:xfrm>
            <a:off x="2160482" y="1168003"/>
            <a:ext cx="1672196" cy="278606"/>
          </a:xfrm>
          <a:prstGeom prst="rect">
            <a:avLst/>
          </a:prstGeom>
          <a:noFill/>
          <a:ln/>
        </p:spPr>
        <p:txBody>
          <a:bodyPr wrap="square" lIns="170053" tIns="153035" rIns="170053" bIns="0" rtlCol="0" anchor="ctr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F5A62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CONVENÇÃO COMUM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832678" y="1168003"/>
            <a:ext cx="1325110" cy="278606"/>
          </a:xfrm>
          <a:prstGeom prst="rect">
            <a:avLst/>
          </a:prstGeom>
          <a:solidFill>
            <a:srgbClr val="4A90E2">
              <a:alpha val="1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3832678" y="1439466"/>
            <a:ext cx="1325110" cy="7144"/>
          </a:xfrm>
          <a:prstGeom prst="rect">
            <a:avLst/>
          </a:prstGeom>
          <a:solidFill>
            <a:srgbClr val="E4EEFB"/>
          </a:solidFill>
          <a:ln/>
        </p:spPr>
      </p:sp>
      <p:sp>
        <p:nvSpPr>
          <p:cNvPr id="13" name="Text 10"/>
          <p:cNvSpPr/>
          <p:nvPr/>
        </p:nvSpPr>
        <p:spPr>
          <a:xfrm>
            <a:off x="3832678" y="1168003"/>
            <a:ext cx="1325110" cy="278606"/>
          </a:xfrm>
          <a:prstGeom prst="rect">
            <a:avLst/>
          </a:prstGeom>
          <a:noFill/>
          <a:ln/>
        </p:spPr>
        <p:txBody>
          <a:bodyPr wrap="square" lIns="170053" tIns="153035" rIns="170053" bIns="0" rtlCol="0" anchor="ctr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F5A62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EXEMPLO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71500" y="1443038"/>
            <a:ext cx="1588982" cy="287536"/>
          </a:xfrm>
          <a:prstGeom prst="rect">
            <a:avLst/>
          </a:prstGeom>
          <a:noFill/>
          <a:ln/>
        </p:spPr>
        <p:txBody>
          <a:bodyPr wrap="square" lIns="170053" tIns="153035" rIns="170053" bIns="0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Variáveis e Funções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303357" y="1557338"/>
            <a:ext cx="771525" cy="18395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2303357" y="1557338"/>
            <a:ext cx="771525" cy="18395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90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snake_case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975553" y="1557338"/>
            <a:ext cx="908707" cy="18395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3975553" y="1557338"/>
            <a:ext cx="908707" cy="18395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90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nome_usuario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71500" y="1730573"/>
            <a:ext cx="1588982" cy="291108"/>
          </a:xfrm>
          <a:prstGeom prst="rect">
            <a:avLst/>
          </a:prstGeom>
          <a:noFill/>
          <a:ln/>
        </p:spPr>
        <p:txBody>
          <a:bodyPr wrap="square" lIns="170053" tIns="153035" rIns="170053" bIns="0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Classes / Metatables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2303357" y="1848445"/>
            <a:ext cx="771525" cy="18395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2303357" y="1848445"/>
            <a:ext cx="771525" cy="18395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90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PascalCase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975553" y="1848445"/>
            <a:ext cx="840116" cy="18395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3975553" y="1848445"/>
            <a:ext cx="840116" cy="18395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90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BankAccount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71500" y="2021681"/>
            <a:ext cx="1588982" cy="291108"/>
          </a:xfrm>
          <a:prstGeom prst="rect">
            <a:avLst/>
          </a:prstGeom>
          <a:noFill/>
          <a:ln/>
        </p:spPr>
        <p:txBody>
          <a:bodyPr wrap="square" lIns="170053" tIns="153035" rIns="170053" bIns="0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Constantes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2303357" y="2139553"/>
            <a:ext cx="771525" cy="18395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2303357" y="2139553"/>
            <a:ext cx="771525" cy="18395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90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UPPER_CASE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3975553" y="2139553"/>
            <a:ext cx="702962" cy="18395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3975553" y="2139553"/>
            <a:ext cx="702962" cy="18395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90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MAX_SPEED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71500" y="2312789"/>
            <a:ext cx="1588982" cy="291108"/>
          </a:xfrm>
          <a:prstGeom prst="rect">
            <a:avLst/>
          </a:prstGeom>
          <a:noFill/>
          <a:ln/>
        </p:spPr>
        <p:txBody>
          <a:bodyPr wrap="square" lIns="170053" tIns="153035" rIns="170053" bIns="0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Módulos / Pacotes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303357" y="2430661"/>
            <a:ext cx="702962" cy="18395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2303357" y="2430661"/>
            <a:ext cx="702962" cy="18395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90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lowercase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3975553" y="2430661"/>
            <a:ext cx="497216" cy="18395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3975553" y="2430661"/>
            <a:ext cx="497216" cy="18395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90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socket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571500" y="2603897"/>
            <a:ext cx="1588982" cy="291108"/>
          </a:xfrm>
          <a:prstGeom prst="rect">
            <a:avLst/>
          </a:prstGeom>
          <a:noFill/>
          <a:ln/>
        </p:spPr>
        <p:txBody>
          <a:bodyPr wrap="square" lIns="170053" tIns="153035" rIns="170053" bIns="0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Internas Lua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2303357" y="2721769"/>
            <a:ext cx="497216" cy="18395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2303357" y="2721769"/>
            <a:ext cx="497216" cy="18395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90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_UPPER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3975553" y="2721769"/>
            <a:ext cx="634371" cy="18395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3975553" y="2721769"/>
            <a:ext cx="634371" cy="18395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90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_VERSION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5514975" y="1168003"/>
            <a:ext cx="3057525" cy="3000375"/>
          </a:xfrm>
          <a:prstGeom prst="rect">
            <a:avLst/>
          </a:prstGeom>
          <a:solidFill>
            <a:srgbClr val="4A90E2">
              <a:alpha val="5000"/>
            </a:srgbClr>
          </a:solidFill>
          <a:ln w="9144">
            <a:solidFill>
              <a:srgbClr val="4A90E2">
                <a:alpha val="40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765006" y="1418034"/>
            <a:ext cx="2557463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REGRAS DE ESCOPO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5929313" y="1762720"/>
            <a:ext cx="239315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Case-Sensitivity:</a:t>
            </a:r>
            <a:r>
              <a:rPr lang="en-US" sz="8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 Lua diferencia </a:t>
            </a:r>
            <a:r>
              <a:rPr lang="en-US" sz="8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maiúsculas de minúsculas em todos os </a:t>
            </a:r>
            <a:r>
              <a:rPr lang="en-US" sz="8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identificadores.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5929313" y="2455664"/>
            <a:ext cx="239315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Variável Dummy (_):</a:t>
            </a:r>
            <a:r>
              <a:rPr lang="en-US" sz="8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 O caractere </a:t>
            </a:r>
            <a:r>
              <a:rPr lang="en-US" sz="8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sublinhado é convencionalmente usado </a:t>
            </a:r>
            <a:r>
              <a:rPr lang="en-US" sz="8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para valores descartados.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5929313" y="3148608"/>
            <a:ext cx="239315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Clareza:</a:t>
            </a:r>
            <a:r>
              <a:rPr lang="en-US" sz="8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 Recomenda-se o uso de nomes </a:t>
            </a:r>
            <a:r>
              <a:rPr lang="en-US" sz="8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descritivos para facilitar a manutenção do </a:t>
            </a:r>
            <a:r>
              <a:rPr lang="en-US" sz="8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código.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spc="2" kern="0" dirty="0">
                <a:solidFill>
                  <a:srgbClr val="4A90E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ÁREAS DE ATUAÇÃO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096566"/>
            <a:ext cx="4586288" cy="2228850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4A90E2">
                <a:alpha val="3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71500" y="1096566"/>
            <a:ext cx="1595177" cy="296466"/>
          </a:xfrm>
          <a:prstGeom prst="rect">
            <a:avLst/>
          </a:prstGeom>
          <a:solidFill>
            <a:srgbClr val="4A90E2">
              <a:alpha val="1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385888"/>
            <a:ext cx="1595177" cy="7144"/>
          </a:xfrm>
          <a:prstGeom prst="rect">
            <a:avLst/>
          </a:prstGeom>
          <a:solidFill>
            <a:srgbClr val="E4EEFB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1096566"/>
            <a:ext cx="1595177" cy="296466"/>
          </a:xfrm>
          <a:prstGeom prst="rect">
            <a:avLst/>
          </a:prstGeom>
          <a:noFill/>
          <a:ln/>
        </p:spPr>
        <p:txBody>
          <a:bodyPr wrap="square" lIns="170053" tIns="153035" rIns="170053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F5A62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ÁREA DE ATUAÇÃO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166677" y="1096566"/>
            <a:ext cx="2991110" cy="296466"/>
          </a:xfrm>
          <a:prstGeom prst="rect">
            <a:avLst/>
          </a:prstGeom>
          <a:solidFill>
            <a:srgbClr val="4A90E2">
              <a:alpha val="1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2166677" y="1385888"/>
            <a:ext cx="2991110" cy="7144"/>
          </a:xfrm>
          <a:prstGeom prst="rect">
            <a:avLst/>
          </a:prstGeom>
          <a:solidFill>
            <a:srgbClr val="E4EEFB"/>
          </a:solidFill>
          <a:ln/>
        </p:spPr>
      </p:sp>
      <p:sp>
        <p:nvSpPr>
          <p:cNvPr id="10" name="Text 7"/>
          <p:cNvSpPr/>
          <p:nvPr/>
        </p:nvSpPr>
        <p:spPr>
          <a:xfrm>
            <a:off x="2166677" y="1096566"/>
            <a:ext cx="2991110" cy="296466"/>
          </a:xfrm>
          <a:prstGeom prst="rect">
            <a:avLst/>
          </a:prstGeom>
          <a:noFill/>
          <a:ln/>
        </p:spPr>
        <p:txBody>
          <a:bodyPr wrap="square" lIns="170053" tIns="153035" rIns="170053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F5A62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APLICAÇÕES NOTÁVEIS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14375" y="1518047"/>
            <a:ext cx="83224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A90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Jogos Digitais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166677" y="1389459"/>
            <a:ext cx="2991110" cy="287536"/>
          </a:xfrm>
          <a:prstGeom prst="rect">
            <a:avLst/>
          </a:prstGeom>
          <a:noFill/>
          <a:ln/>
        </p:spPr>
        <p:txBody>
          <a:bodyPr wrap="square" lIns="170053" tIns="153035" rIns="170053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World of Warcraft, Roblox, Angry Birds, Far Cry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14375" y="1886843"/>
            <a:ext cx="128051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A90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Sistemas Embarcados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166677" y="1676995"/>
            <a:ext cx="2991110" cy="446484"/>
          </a:xfrm>
          <a:prstGeom prst="rect">
            <a:avLst/>
          </a:prstGeom>
          <a:noFill/>
          <a:ln/>
        </p:spPr>
        <p:txBody>
          <a:bodyPr wrap="square" lIns="170053" tIns="153035" rIns="170053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Roteadores, IoT, Lego MindStorms, Automação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14375" y="2255639"/>
            <a:ext cx="5500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A90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TV Digital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166677" y="2123480"/>
            <a:ext cx="2991110" cy="291108"/>
          </a:xfrm>
          <a:prstGeom prst="rect">
            <a:avLst/>
          </a:prstGeom>
          <a:noFill/>
          <a:ln/>
        </p:spPr>
        <p:txBody>
          <a:bodyPr wrap="square" lIns="170053" tIns="153035" rIns="170053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Middleware Ginga (Padrão de Interatividade)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14375" y="2624435"/>
            <a:ext cx="100905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A90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Web e Servidores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166677" y="2414588"/>
            <a:ext cx="2991110" cy="446484"/>
          </a:xfrm>
          <a:prstGeom prst="rect">
            <a:avLst/>
          </a:prstGeom>
          <a:noFill/>
          <a:ln/>
        </p:spPr>
        <p:txBody>
          <a:bodyPr wrap="square" lIns="170053" tIns="153035" rIns="170053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NGINX (OpenResty), Apache, Servidores de Performance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14375" y="2993231"/>
            <a:ext cx="916186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A90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Ferramentas de Software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166677" y="2861072"/>
            <a:ext cx="2991110" cy="446484"/>
          </a:xfrm>
          <a:prstGeom prst="rect">
            <a:avLst/>
          </a:prstGeom>
          <a:noFill/>
          <a:ln/>
        </p:spPr>
        <p:txBody>
          <a:bodyPr wrap="square" lIns="170053" tIns="153035" rIns="170053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Adobe Lightroom, Wireshark, VLC Media Player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514975" y="1096566"/>
            <a:ext cx="3057525" cy="3143250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4A90E2">
                <a:alpha val="3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65006" y="1346597"/>
            <a:ext cx="2557463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SCRIPTING EM SISTEMAS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965031" y="1743075"/>
            <a:ext cx="2357438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90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Indústria de Games:</a:t>
            </a:r>
            <a:r>
              <a:rPr lang="en-US" sz="9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 Linguagem de </a:t>
            </a:r>
            <a:r>
              <a:rPr lang="en-US" sz="9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script líder para implementação de </a:t>
            </a:r>
            <a:r>
              <a:rPr lang="en-US" sz="9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lógica de jogo e IA.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965031" y="2468166"/>
            <a:ext cx="2357438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90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Extensibilidade:</a:t>
            </a:r>
            <a:r>
              <a:rPr lang="en-US" sz="9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 Permite que usuários </a:t>
            </a:r>
            <a:r>
              <a:rPr lang="en-US" sz="9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finais e desenvolvedores criem </a:t>
            </a:r>
            <a:r>
              <a:rPr lang="en-US" sz="9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extensões sem modificar o núcleo.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965031" y="3193256"/>
            <a:ext cx="2357438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90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Sistemas Críticos:</a:t>
            </a:r>
            <a:r>
              <a:rPr lang="en-US" sz="9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 Alta confiabilidade </a:t>
            </a:r>
            <a:r>
              <a:rPr lang="en-US" sz="9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para uso em infraestrutura de hardware </a:t>
            </a:r>
            <a:r>
              <a:rPr lang="en-US" sz="9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e rede.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spc="2" kern="0" dirty="0">
                <a:solidFill>
                  <a:srgbClr val="4A90E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SISTEMAS, SEGURANÇA E REDES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096566"/>
            <a:ext cx="3821906" cy="3143250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4A90E2">
                <a:alpha val="3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85813" y="1346597"/>
            <a:ext cx="3393281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ANÁLISE E MONITORAMENTO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85838" y="1743075"/>
            <a:ext cx="3193256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90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Wireshark:</a:t>
            </a:r>
            <a:r>
              <a:rPr lang="en-US" sz="9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 Implementação de </a:t>
            </a:r>
            <a:r>
              <a:rPr lang="en-US" sz="900" i="1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dissectors</a:t>
            </a:r>
            <a:r>
              <a:rPr lang="en-US" sz="9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 para análise </a:t>
            </a:r>
            <a:r>
              <a:rPr lang="en-US" sz="9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e decodificação de protocolos de rede.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985838" y="2286000"/>
            <a:ext cx="3193256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90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Nmap:</a:t>
            </a:r>
            <a:r>
              <a:rPr lang="en-US" sz="9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 Automação de varreduras de rede e auditorias </a:t>
            </a:r>
            <a:r>
              <a:rPr lang="en-US" sz="9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de segurança via scripts NSE.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85838" y="2828925"/>
            <a:ext cx="3193256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90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Suricata:</a:t>
            </a:r>
            <a:r>
              <a:rPr lang="en-US" sz="9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 Inspeção de pacotes e detecção de </a:t>
            </a:r>
            <a:r>
              <a:rPr lang="en-US" sz="9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ameaças baseada em regras dinâmicas.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750594" y="1096566"/>
            <a:ext cx="3821906" cy="3143250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64906" y="1346597"/>
            <a:ext cx="3393281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INFRAESTRUTURA DE SERVIDORES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164931" y="1743075"/>
            <a:ext cx="3193256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90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OpenResty (NGINX):</a:t>
            </a:r>
            <a:r>
              <a:rPr lang="en-US" sz="9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 Injeção de lógica de </a:t>
            </a:r>
            <a:r>
              <a:rPr lang="en-US" sz="9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processamento de requisições diretamente no fluxo </a:t>
            </a:r>
            <a:r>
              <a:rPr lang="en-US" sz="9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do servidor.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164931" y="2468166"/>
            <a:ext cx="3193256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90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Isolamento (Sandbox):</a:t>
            </a:r>
            <a:r>
              <a:rPr lang="en-US" sz="9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 Execução segura de scripts de </a:t>
            </a:r>
            <a:r>
              <a:rPr lang="en-US" sz="9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terceiros em ambientes controlados.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164931" y="3011091"/>
            <a:ext cx="3193256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90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Performance:</a:t>
            </a:r>
            <a:r>
              <a:rPr lang="en-US" sz="9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 Processamento de alto volume com </a:t>
            </a:r>
            <a:r>
              <a:rPr lang="en-US" sz="9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baixa latência usando LuaJIT.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spc="2" kern="0" dirty="0">
                <a:solidFill>
                  <a:srgbClr val="4A90E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IOT E SISTEMAS EMBARCADOS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096566"/>
            <a:ext cx="3821906" cy="3143250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4A90E2">
                <a:alpha val="3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85813" y="1346597"/>
            <a:ext cx="3393281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PLATAFORMAS DE HARDWARE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85838" y="1743075"/>
            <a:ext cx="3193256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90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NodeMCU:</a:t>
            </a:r>
            <a:r>
              <a:rPr lang="en-US" sz="9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 Firmware para microcontroladores </a:t>
            </a:r>
            <a:r>
              <a:rPr lang="en-US" sz="9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ESP8266/ESP32 com suporte nativo a scripts Lua.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985838" y="2286000"/>
            <a:ext cx="3193256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90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eLua:</a:t>
            </a:r>
            <a:r>
              <a:rPr lang="en-US" sz="9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 Implementação da linguagem para sistemas </a:t>
            </a:r>
            <a:r>
              <a:rPr lang="en-US" sz="9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embarcados sem sistema operacional.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85838" y="2828925"/>
            <a:ext cx="3193256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90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Ginga-NCL:</a:t>
            </a:r>
            <a:r>
              <a:rPr lang="en-US" sz="9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 Padrão de TV Digital que utiliza Lua para </a:t>
            </a:r>
            <a:r>
              <a:rPr lang="en-US" sz="9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aplicações interativas em decodificadores.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750594" y="1096566"/>
            <a:ext cx="3821906" cy="3143250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64906" y="1346597"/>
            <a:ext cx="3393281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VANTAGENS TÉCNICAS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164931" y="1743075"/>
            <a:ext cx="3193256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90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Consumo de Recursos:</a:t>
            </a:r>
            <a:r>
              <a:rPr lang="en-US" sz="9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 Baixo footprint de memória e </a:t>
            </a:r>
            <a:r>
              <a:rPr lang="en-US" sz="9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processamento, ideal para hardware limitado.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164931" y="2286000"/>
            <a:ext cx="3193256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90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Atualização Dinâmica:</a:t>
            </a:r>
            <a:r>
              <a:rPr lang="en-US" sz="9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 Facilita o desenvolvimento de </a:t>
            </a:r>
            <a:r>
              <a:rPr lang="en-US" sz="9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atualizações de lógica via rede (OTA).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164931" y="2828925"/>
            <a:ext cx="3193256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90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Portabilidade:</a:t>
            </a:r>
            <a:r>
              <a:rPr lang="en-US" sz="9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 Compatível com diversas arquiteturas </a:t>
            </a:r>
            <a:r>
              <a:rPr lang="en-US" sz="90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de CPU através de compiladores C padrão.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spc="2" kern="0" dirty="0">
                <a:solidFill>
                  <a:srgbClr val="4A90E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DOCUMENTAÇÃO E COMUNIDADE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168003"/>
            <a:ext cx="2524116" cy="3214688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4A90E2">
                <a:alpha val="30000"/>
              </a:srgbClr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94" y="1447502"/>
            <a:ext cx="160734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96553" y="1418034"/>
            <a:ext cx="1437680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RECURSOS OFICIAIS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928688" y="1798439"/>
            <a:ext cx="197881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Manual de Referência:</a:t>
            </a:r>
            <a:r>
              <a:rPr lang="en-US" sz="8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 Disponível </a:t>
            </a:r>
            <a:r>
              <a:rPr lang="en-US" sz="8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em </a:t>
            </a:r>
            <a:r>
              <a:rPr lang="en-US" sz="850" i="1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lua.org</a:t>
            </a:r>
            <a:r>
              <a:rPr lang="en-US" sz="8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, contém a especificação </a:t>
            </a:r>
            <a:r>
              <a:rPr lang="en-US" sz="8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completa da linguagem.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928688" y="2469952"/>
            <a:ext cx="197881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Programming in Lua:</a:t>
            </a:r>
            <a:r>
              <a:rPr lang="en-US" sz="8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 Livro </a:t>
            </a:r>
            <a:r>
              <a:rPr lang="en-US" sz="8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fundamental para o aprendizado </a:t>
            </a:r>
            <a:r>
              <a:rPr lang="en-US" sz="8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de técnicas avançadas.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928688" y="3141464"/>
            <a:ext cx="197881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Wiki lua-users:</a:t>
            </a:r>
            <a:r>
              <a:rPr lang="en-US" sz="8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 Base de </a:t>
            </a:r>
            <a:r>
              <a:rPr lang="en-US" sz="8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conhecimento mantida pela </a:t>
            </a:r>
            <a:r>
              <a:rPr lang="en-US" sz="8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comunidade de desenvolvedores.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3300413" y="1168003"/>
            <a:ext cx="2528888" cy="3214688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4A90E2">
                <a:alpha val="30000"/>
              </a:srgbClr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778" y="1447502"/>
            <a:ext cx="178594" cy="1428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748097" y="1418034"/>
            <a:ext cx="1035844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ECOSSISTEMA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3662372" y="1798439"/>
            <a:ext cx="198359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LuaRocks:</a:t>
            </a:r>
            <a:r>
              <a:rPr lang="en-US" sz="8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 Repositório e </a:t>
            </a:r>
            <a:r>
              <a:rPr lang="en-US" sz="8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gerenciador de pacotes oficial para </a:t>
            </a:r>
            <a:r>
              <a:rPr lang="en-US" sz="8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distribuição de módulos.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3662372" y="2469952"/>
            <a:ext cx="198359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Canais de Comunicação:</a:t>
            </a:r>
            <a:r>
              <a:rPr lang="en-US" sz="8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 Listas de </a:t>
            </a:r>
            <a:r>
              <a:rPr lang="en-US" sz="8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discussão e fóruns técnicos ativos </a:t>
            </a:r>
            <a:r>
              <a:rPr lang="en-US" sz="8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globalmente.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3662372" y="3141464"/>
            <a:ext cx="198359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Projetos Open Source:</a:t>
            </a:r>
            <a:r>
              <a:rPr lang="en-US" sz="8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 Grande </a:t>
            </a:r>
            <a:r>
              <a:rPr lang="en-US" sz="8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volume de bibliotecas disponíveis </a:t>
            </a:r>
            <a:r>
              <a:rPr lang="en-US" sz="8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em plataformas como GitHub.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6038869" y="1168003"/>
            <a:ext cx="2533659" cy="3214688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4A90E2">
                <a:alpha val="30000"/>
              </a:srgbClr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6950" y="1447502"/>
            <a:ext cx="160734" cy="14287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73410" y="1418034"/>
            <a:ext cx="1080492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FERRAMENTAS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6405544" y="1798439"/>
            <a:ext cx="198833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Ambientes de Dev:</a:t>
            </a:r>
            <a:r>
              <a:rPr lang="en-US" sz="8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 IDEs como </a:t>
            </a:r>
            <a:r>
              <a:rPr lang="en-US" sz="8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ZeroBrane Studio e extensões para </a:t>
            </a:r>
            <a:r>
              <a:rPr lang="en-US" sz="8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VS Code.</a:t>
            </a:r>
            <a:endParaRPr lang="en-US" sz="850" dirty="0"/>
          </a:p>
        </p:txBody>
      </p:sp>
      <p:sp>
        <p:nvSpPr>
          <p:cNvPr id="20" name="Text 14"/>
          <p:cNvSpPr/>
          <p:nvPr/>
        </p:nvSpPr>
        <p:spPr>
          <a:xfrm>
            <a:off x="6405544" y="2469952"/>
            <a:ext cx="198833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Interpretadores:</a:t>
            </a:r>
            <a:r>
              <a:rPr lang="en-US" sz="8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 Implementação </a:t>
            </a:r>
            <a:r>
              <a:rPr lang="en-US" sz="8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padrão em C e a versão de alta </a:t>
            </a:r>
            <a:r>
              <a:rPr lang="en-US" sz="8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performance LuaJIT.</a:t>
            </a:r>
            <a:endParaRPr lang="en-US" sz="850" dirty="0"/>
          </a:p>
        </p:txBody>
      </p:sp>
      <p:sp>
        <p:nvSpPr>
          <p:cNvPr id="21" name="Text 15"/>
          <p:cNvSpPr/>
          <p:nvPr/>
        </p:nvSpPr>
        <p:spPr>
          <a:xfrm>
            <a:off x="6405544" y="3141464"/>
            <a:ext cx="198833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Depuradores:</a:t>
            </a:r>
            <a:r>
              <a:rPr lang="en-US" sz="8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 Ferramentas </a:t>
            </a:r>
            <a:r>
              <a:rPr lang="en-US" sz="8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integradas para análise de </a:t>
            </a:r>
            <a:r>
              <a:rPr lang="en-US" sz="850" dirty="0">
                <a:solidFill>
                  <a:srgbClr val="E0E6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execução e rastreamento de erros.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2026-05-28T09:02:46Z</dcterms:created>
  <dcterms:modified xsi:type="dcterms:W3CDTF">2026-05-28T09:02:46Z</dcterms:modified>
</cp:coreProperties>
</file>